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-457200"/>
            <a:ext cx="4572000" cy="4572000"/>
          </a:xfrm>
          <a:prstGeom prst="rect">
            <a:avLst/>
          </a:prstGeom>
          <a:solidFill>
            <a:srgbClr val="1A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4572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0" y="4572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0" y="4572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0" y="4572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0" y="4572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0" y="4572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0" y="9144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0" y="9144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0" y="9144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0" y="9144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9144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47120" y="9144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0" y="13716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0" y="13716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0" y="13716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32720" y="13716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0" y="13716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47120" y="13716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61120" y="18288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0" y="18288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5520" y="18288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32720" y="18288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89920" y="18288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47120" y="18288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61120" y="22860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18320" y="22860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75520" y="22860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32720" y="22860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89920" y="22860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247120" y="2286000"/>
            <a:ext cx="73152" cy="73152"/>
          </a:xfrm>
          <a:prstGeom prst="ellipse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7200" y="914400"/>
            <a:ext cx="2743200" cy="34747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v1.0  LEADERSHIP BRIEF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GitAnalytics AI
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2DD4BF"/>
                </a:solidFill>
              </a:rPr>
              <a:t>Quantifying AI-Assisted Code Contributions
Across Your Engineering Teams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297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 read-only, browser-based analytics platform that connects to GitLab to
automatically detect, measure, and visualise AI vs. manually written code —
giving leadership real-time insight into AI adoption across every project.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577840"/>
            <a:ext cx="182880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60A5FA"/>
                </a:solidFill>
              </a:rPr>
              <a:t>React 18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40" y="5577840"/>
            <a:ext cx="182880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60A5FA"/>
                </a:solidFill>
              </a:rPr>
              <a:t>TypeScript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5577840"/>
            <a:ext cx="182880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60A5FA"/>
                </a:solidFill>
              </a:rPr>
              <a:t>Recharts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5577840"/>
            <a:ext cx="182880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60A5FA"/>
                </a:solidFill>
              </a:rPr>
              <a:t>GitLab REST API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5577840"/>
            <a:ext cx="182880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60A5FA"/>
                </a:solidFill>
              </a:rPr>
              <a:t>Zero Backend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What it does · Why it matters ·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55648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</a:rPr>
              <a:t>Engineering leaders cannot easily answer: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</a:rPr>
              <a:t>  •  How much of our code is AI-generated?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</a:rPr>
              <a:t>  •  Which developers are leveraging AI tools?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</a:rPr>
              <a:t>  •  Is AI adoption improving team velocity?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</a:rPr>
              <a:t>  •  Are AI contribution patterns healthy?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</a:rPr>
              <a:t>Manual audits are time-consuming, inconsistent,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</a:rPr>
              <a:t>and require access to every commit across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</a:rPr>
              <a:t>multiple GitLab projects — infeasible at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4864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The 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783080"/>
            <a:ext cx="5120640" cy="96012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20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87451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Automated AI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221991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3 independent signals detect AI-generated commits without manual tagging.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898648"/>
            <a:ext cx="5120640" cy="96012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03580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99008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Real-Time LOC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33756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Lines of code split by Manual vs AI per developer, per project.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014215"/>
            <a:ext cx="5120640" cy="96012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15137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105655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Zero Data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453127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No backend server. Token never persisted. Data cleared on page refresh.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5129784"/>
            <a:ext cx="5120640" cy="96012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26694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22122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Instant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568696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Static SPA — runs from any CDN, S3 bucket, or web server. No DevOps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AI Adoption Visibility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Why traditional code review tools miss the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27432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78BFA"/>
                </a:solidFill>
              </a:rPr>
              <a:t>77%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04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of developers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now use AI coding tools
at least weekly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23444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234440"/>
            <a:ext cx="27432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63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DD4BF"/>
                </a:solidFill>
              </a:rPr>
              <a:t>3×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04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faster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51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delivery reported with
AI-assisted workflows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23444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234440"/>
            <a:ext cx="27432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63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BBF24"/>
                </a:solidFill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04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of git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51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natively classify
AI vs manual LOC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23444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234440"/>
            <a:ext cx="27432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463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304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manual 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651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leadership relies on
self-reported surveys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39"/>
            <a:ext cx="11274552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886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Without GitAnalytics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86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With GitAnalytics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206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4A3B8"/>
                </a:solidFill>
              </a:rPr>
              <a:t>VS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794760"/>
            <a:ext cx="36576" cy="237744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34340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✗  No visibility into AI adoption rate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✗  Surveys are slow &amp; self-reporting biased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✗  No per-developer breakdown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✗  Impossible to trend over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4340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4D399"/>
                </a:solidFill>
              </a:rPr>
              <a:t>✓  Instant AI/manual LOC split per dev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4D399"/>
                </a:solidFill>
              </a:rPr>
              <a:t>✓  3 automated detection signals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4D399"/>
                </a:solidFill>
              </a:rPr>
              <a:t>✓  Drill-down to individual commits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4D399"/>
                </a:solidFill>
              </a:rPr>
              <a:t>✓  Compare periods with date range filter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Modern, lightweight, and zero-dependency on external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</a:rPr>
              <a:t>PRESENTATION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36192"/>
            <a:ext cx="3657600" cy="27432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45920"/>
            <a:ext cx="36576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45920"/>
            <a:ext cx="3657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556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React 18.2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Component library
(Hooks, Strict Mode)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18688"/>
            <a:ext cx="36576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218688"/>
            <a:ext cx="365760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284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TypeScript 5.3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2160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Static typing
(strict mode)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791456"/>
            <a:ext cx="36576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791456"/>
            <a:ext cx="3657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90118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Tailwind CSS 3.4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94376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Utility-first styling
+ brand theme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</a:rPr>
              <a:t>VISUALISATION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536192"/>
            <a:ext cx="3657600" cy="27432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645920"/>
            <a:ext cx="36576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1645920"/>
            <a:ext cx="36576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7556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Recharts 2.10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1488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Composable React charts
(Bar, Pie, Tooltip)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218688"/>
            <a:ext cx="36576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218688"/>
            <a:ext cx="3657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3284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Custom Tooltips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72160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Hover interactions
with K-suffix formatting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4791456"/>
            <a:ext cx="36576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4791456"/>
            <a:ext cx="3657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490118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Donut + Bar 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294376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Toggle between chart
perspectives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</a:rPr>
              <a:t>BUILD &amp; DELIVERY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1536192"/>
            <a:ext cx="3657600" cy="27432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5319" y="1645920"/>
            <a:ext cx="36576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19" y="1645920"/>
            <a:ext cx="36576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199" y="17556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Vite 5.0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199" y="21488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Lightning-fast bundler
HMR dev server :3000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19" y="3218688"/>
            <a:ext cx="36576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19" y="3218688"/>
            <a:ext cx="365760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199" y="33284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PostCSS / Autoprefixer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199" y="372160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CSS transformation
pipeline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19" y="4791456"/>
            <a:ext cx="36576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75319" y="4791456"/>
            <a:ext cx="3657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199" y="490118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Static SPA 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199" y="5294376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dist/ → any CDN
or web server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</a:rPr>
              <a:t>No backend server required · No database · No authentication service · Zero server-side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 Detection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Three independent signals — any match classifies the commit as AI-assisted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65760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02920" cy="34747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3533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Commit Message
Pattern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18 regex patterns scanning
title + body for AI tool
conventions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3291840" cy="237744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986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[AI-Generated]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60273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[Claude]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0050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copilot: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4074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[ChatGPT]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80974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[Cursor]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21208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Co-Authored-By: *bot*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234440"/>
            <a:ext cx="36576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1234440"/>
            <a:ext cx="3657600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0560" y="1371600"/>
            <a:ext cx="502920" cy="3474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3533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Committer Email
Mismatch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90195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Flags when committer ≠ author
— tool committed on
behalf of developer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834640"/>
            <a:ext cx="3291840" cy="237744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8986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EXAMPLES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GitHub Copilot auto-commit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60273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Cursor autonomous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0050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CI bot commits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4074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Agent-driven push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234440"/>
            <a:ext cx="36576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234440"/>
            <a:ext cx="365760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2480" y="1371600"/>
            <a:ext cx="502920" cy="34747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13533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LOC Burst
Heuristic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190195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Flags manual commits
≥ 3× developer's own
median additions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834640"/>
            <a:ext cx="3291840" cy="237744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28986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EXAMPLES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Requires ≥ 5 commits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360273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Developer-specific 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40050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Catches undeclared AI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44074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Statistical anomaly detection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6400800"/>
            <a:ext cx="6702552" cy="384048"/>
          </a:xfrm>
          <a:prstGeom prst="rect">
            <a:avLst/>
          </a:prstGeom>
          <a:solidFill>
            <a:srgbClr val="1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0" y="6400800"/>
            <a:ext cx="6702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</a:rPr>
              <a:t>  Any signal match  →  isAiGenerated = true  |  aiReason tagged for audit 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Client-side SPA — all processing in the browser, GitLab is the only external dependency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10312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1031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0A5FA"/>
                </a:solidFill>
              </a:rPr>
              <a:t>Configure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95728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User enters
GitLab URL,
PAT token,
Group/Project 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834640"/>
            <a:ext cx="18288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Triangle 12"/>
          <p:cNvSpPr/>
          <p:nvPr/>
        </p:nvSpPr>
        <p:spPr>
          <a:xfrm>
            <a:off x="2578608" y="2770632"/>
            <a:ext cx="128016" cy="164592"/>
          </a:xfrm>
          <a:prstGeom prst="rtTriangl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3472" y="1371600"/>
            <a:ext cx="210312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33472" y="1371600"/>
            <a:ext cx="210312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1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D4BF"/>
                </a:solidFill>
              </a:rPr>
              <a:t>Fetch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395728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GitLabService
calls REST v4
with pagination
&amp; rate-limit retry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82312" y="2834640"/>
            <a:ext cx="18288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Triangle 19"/>
          <p:cNvSpPr/>
          <p:nvPr/>
        </p:nvSpPr>
        <p:spPr>
          <a:xfrm>
            <a:off x="4937760" y="2770632"/>
            <a:ext cx="128016" cy="164592"/>
          </a:xfrm>
          <a:prstGeom prst="rtTriangl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92624" y="1371600"/>
            <a:ext cx="210312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92624" y="1371600"/>
            <a:ext cx="21031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5584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8344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064" y="2395728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locParser runs
3-signal AI
detection &amp;
LOC aggregation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41464" y="2834640"/>
            <a:ext cx="18288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Triangle 26"/>
          <p:cNvSpPr/>
          <p:nvPr/>
        </p:nvSpPr>
        <p:spPr>
          <a:xfrm>
            <a:off x="7296912" y="2770632"/>
            <a:ext cx="128016" cy="164592"/>
          </a:xfrm>
          <a:prstGeom prst="rtTriangl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1776" y="1371600"/>
            <a:ext cx="210312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51776" y="1371600"/>
            <a:ext cx="21031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496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Visualise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3216" y="2395728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Recharts renders
KPI cards, bar
chart, pie chart
per developer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0616" y="2834640"/>
            <a:ext cx="18288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Triangle 33"/>
          <p:cNvSpPr/>
          <p:nvPr/>
        </p:nvSpPr>
        <p:spPr>
          <a:xfrm>
            <a:off x="9656064" y="2770632"/>
            <a:ext cx="128016" cy="164592"/>
          </a:xfrm>
          <a:prstGeom prst="rtTriangl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10928" y="1371600"/>
            <a:ext cx="210312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10928" y="1371600"/>
            <a:ext cx="210312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33888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</a:rPr>
              <a:t>Drill-Down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02368" y="2395728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Click any dev row
to inspect individual
commits with
AI reason badges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48920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</a:rPr>
              <a:t>ConfigPanel.tsx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1663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collapsible form, token hidden by default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33472" y="48920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</a:rPr>
              <a:t>GitLabService.ts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33472" y="51663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REST v4, pagination 100/page, exp back-off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92624" y="48920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locParser.ts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92624" y="51663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aggregateByDeveloper() — 2-pass algorithm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51776" y="48920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</a:rPr>
              <a:t>CommitChart.tsx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51776" y="51663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Bar (stacked) + Pie (donut) with toggle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10928" y="48920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</a:rPr>
              <a:t>StatsTable.tsx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0928" y="51663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expandable rows, 10 commits/page pager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760720"/>
            <a:ext cx="11640312" cy="86868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833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SECURITY NOTE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580644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Token flows: UI → React state → GitLabService (function arg) → GitLab HTTPS request
Token NEVER written to localStorage / cookies / server logs. Cleared on page refresh.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Dashboard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Every view designed for engineering leadership decision-making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3444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234440"/>
            <a:ext cx="27432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344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3716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</a:rPr>
              <a:t>KPI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78308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5 live metrics: Active Developers, Total Commits, Total LOC, Manual LOC, AI LOC — updated on every fetch.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23444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234440"/>
            <a:ext cx="274320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344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3716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LOC Bar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78308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Per-developer stacked bar chart (Manual teal / AI violet). Y-axis auto-scales with K suffix for large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23444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234440"/>
            <a:ext cx="27432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344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13716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Global Donut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178308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Overall AI% donut with legend showing raw line counts. One-click toggle between Bar and Pie views.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0576" y="123444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0576" y="1234440"/>
            <a:ext cx="27432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1344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4936" y="13716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Developer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178308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Sortable breakdown: name, commit counts, LOC columns, and a mini stacked progress bar for AI split at a glance.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370332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3703320"/>
            <a:ext cx="27432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3813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38404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Commit Drill-Down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425196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Expand any developer row to see all commits: SHA, title, date, additions, deletions, and AI reason badge.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70332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3703320"/>
            <a:ext cx="27432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3813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🏷️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38404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Author Filter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425196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Tag-style multi-author filter. Case-insensitive substring match on name or email. Backspace to remove.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6208" y="370332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6208" y="3703320"/>
            <a:ext cx="27432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813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38404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</a:rPr>
              <a:t>Date Range Picker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3368" y="425196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Quick presets (7d / 14d / 30d / 90d) plus manual From/To date inputs for custom sprint or quarter views.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0576" y="370332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80576" y="3703320"/>
            <a:ext cx="274320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17736" y="3813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74936" y="38404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Whitespace Discount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17736" y="425196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Toggle a 5% LOC reduction that removes blank-line and formatting-only inflation from raw addition 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Sample Dashboard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Illustrative example — real data comes live from your GitLab instance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34440"/>
            <a:ext cx="21945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234440"/>
            <a:ext cx="219456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41732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D4BF"/>
                </a:solidFill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84248"/>
            <a:ext cx="2011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Active Developers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6624" y="1234440"/>
            <a:ext cx="21945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06624" y="1234440"/>
            <a:ext cx="219456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3784" y="141732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0A5FA"/>
                </a:solidFill>
              </a:rPr>
              <a:t>847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1984248"/>
            <a:ext cx="2011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Total Commits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1234440"/>
            <a:ext cx="21945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65776" y="1234440"/>
            <a:ext cx="219456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141732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142,380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984248"/>
            <a:ext cx="2011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Total LOC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24928" y="1234440"/>
            <a:ext cx="21945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24928" y="1234440"/>
            <a:ext cx="219456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141732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</a:rPr>
              <a:t>88,550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1984248"/>
            <a:ext cx="2011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Manual LOC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234440"/>
            <a:ext cx="21945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84080" y="1234440"/>
            <a:ext cx="21945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1417320"/>
            <a:ext cx="2011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</a:rPr>
              <a:t>53,830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984248"/>
            <a:ext cx="2011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AI-Assisted LOC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514600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</a:rPr>
              <a:t>37.8% AI-Assisted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2606040"/>
            <a:ext cx="11475720" cy="164592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" y="2606040"/>
            <a:ext cx="4337822" cy="1645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914632" y="2587752"/>
            <a:ext cx="54864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37.8%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297180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LOC by Developer (Manual vs AI)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3337560"/>
            <a:ext cx="6858000" cy="3017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824" y="3474720"/>
            <a:ext cx="653796" cy="15849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7824" y="5059680"/>
            <a:ext cx="653796" cy="792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897880"/>
            <a:ext cx="8366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alice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66543" y="3857296"/>
            <a:ext cx="653796" cy="1147729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66543" y="5005026"/>
            <a:ext cx="653796" cy="847133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75103" y="5897880"/>
            <a:ext cx="8366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bob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55263" y="3966604"/>
            <a:ext cx="653796" cy="16669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55263" y="5633544"/>
            <a:ext cx="653796" cy="218615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63823" y="5897880"/>
            <a:ext cx="8366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carol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43984" y="4048584"/>
            <a:ext cx="653796" cy="901787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43984" y="4950372"/>
            <a:ext cx="653796" cy="901787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52544" y="5897880"/>
            <a:ext cx="8366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dave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32704" y="5005026"/>
            <a:ext cx="653796" cy="73782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32704" y="5742852"/>
            <a:ext cx="653796" cy="109307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41264" y="5897880"/>
            <a:ext cx="8366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elena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6126480"/>
            <a:ext cx="1737360" cy="29260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  Manual LOC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68880" y="6126480"/>
            <a:ext cx="146304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  AI LOC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29718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Developer Breakdown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3337560"/>
            <a:ext cx="4663440" cy="3017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79" y="3401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Developer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34015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Commits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34015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Total LOC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34015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AI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6640" y="3749039"/>
            <a:ext cx="4663440" cy="475488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79" y="38404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384047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384047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8,700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881360" y="3931920"/>
            <a:ext cx="822960" cy="12801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881360" y="3931920"/>
            <a:ext cx="271576" cy="12801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750040" y="3840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33%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79" y="43433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bob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434339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51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434339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7,300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81360" y="4434840"/>
            <a:ext cx="822960" cy="12801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881360" y="4434840"/>
            <a:ext cx="345643" cy="12801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750040" y="434339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42%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06640" y="4754879"/>
            <a:ext cx="4663440" cy="475488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98079" y="48463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carol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484631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75520" y="484631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6,900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881360" y="4937759"/>
            <a:ext cx="822960" cy="12801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881360" y="4937759"/>
            <a:ext cx="98755" cy="12801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750040" y="48463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12%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79" y="5349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0" y="5349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44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75520" y="5349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6,600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881360" y="5440680"/>
            <a:ext cx="822960" cy="12801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881360" y="5440680"/>
            <a:ext cx="411480" cy="12801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750040" y="5349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50%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06640" y="5760720"/>
            <a:ext cx="4663440" cy="475488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8079" y="58521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elena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0" y="585215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75520" y="585215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3,100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81360" y="5943600"/>
            <a:ext cx="822960" cy="12801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881360" y="5943600"/>
            <a:ext cx="106984" cy="12801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750040" y="58521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13%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Commit-Level Drill-Down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Click any developer row to inspect individual commits with AI reason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57432" cy="5440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457432" cy="594360"/>
          </a:xfrm>
          <a:prstGeom prst="rect">
            <a:avLst/>
          </a:prstGeom>
          <a:solidFill>
            <a:srgbClr val="1A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▼  bob  ·  bob@company.com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280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36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Commits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280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7,300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536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Total LOC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280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4,200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36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1280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</a:rPr>
              <a:t>3,100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536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9202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Short SHA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1920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Title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920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+Lines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920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−Lines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286000"/>
            <a:ext cx="11457432" cy="475488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3774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a1b2c3d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[Claude] Refactor auth middleware to use JWT refresh tokens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Apr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377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+412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377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</a:rPr>
              <a:t>-88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2359152"/>
            <a:ext cx="219456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2871216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e4f5a6b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28712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Add unit tests for token validation edge cases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8712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Apr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8712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+134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8712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</a:rPr>
              <a:t>-12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95360" y="2852928"/>
            <a:ext cx="219456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MANUAL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73552"/>
            <a:ext cx="11457432" cy="475488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36499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7c8d9e0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3364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co-pilot: optimise database query with index hints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33649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Apr 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3649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+67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33649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</a:rPr>
              <a:t>-5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3346704"/>
            <a:ext cx="219456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PATTERN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38587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f1a2b3c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38587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 null pointer in session handler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3858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Apr 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38587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+23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38587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</a:rPr>
              <a:t>-2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95360" y="3840480"/>
            <a:ext cx="219456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MANUAL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261104"/>
            <a:ext cx="11457432" cy="475488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435254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d4e5f60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3040" y="43525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Implement bulk export endpoint (1,840 lines)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43525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Apr 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3525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+1840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43525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</a:rPr>
              <a:t>-0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95360" y="4334256"/>
            <a:ext cx="219456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LOC BURST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48463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1b2c3d4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Update CI pipeline for node 20 upgrade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7784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Apr 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4846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+45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4846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</a:rPr>
              <a:t>-38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95360" y="4828032"/>
            <a:ext cx="2194560" cy="29260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TOOL COMMIT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248656"/>
            <a:ext cx="11457432" cy="475488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5340096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5e6f7a8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63040" y="53400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Refactor user profile components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77840" y="5340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Apr 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534009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+289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72400" y="534009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</a:rPr>
              <a:t>-102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95360" y="5321808"/>
            <a:ext cx="219456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MANUAL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" y="583387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9b0c1d2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63040" y="5833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[Cursor] Generate openAPI spec from route decorators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77840" y="5833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Apr 06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49440" y="58338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+728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72400" y="58338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</a:rPr>
              <a:t>-14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595360" y="5815584"/>
            <a:ext cx="219456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PATTERN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6492240"/>
            <a:ext cx="137160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PATTERN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20240" y="65105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AI tool tag in commit message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383280" y="6492240"/>
            <a:ext cx="137160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LOC BURST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46320" y="65105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Commit ≥ 3× developer's median size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09360" y="6492240"/>
            <a:ext cx="1371600" cy="29260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TOOL COMMIT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72400" y="65105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Committer email ≠ author email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235440" y="6492240"/>
            <a:ext cx="137160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F172A"/>
                </a:solidFill>
              </a:rPr>
              <a:t>MANUAL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98480" y="65105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No AI signal detected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Security &amp; Privacy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Designed for zero data exposure — every byte stays between the browser and GitLab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Personal Access Token Lifecycle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201168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201168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User Enters
Token in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5728" y="2212848"/>
            <a:ext cx="256032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Triangle 11"/>
          <p:cNvSpPr/>
          <p:nvPr/>
        </p:nvSpPr>
        <p:spPr>
          <a:xfrm>
            <a:off x="2624328" y="2148840"/>
            <a:ext cx="118872" cy="155448"/>
          </a:xfrm>
          <a:prstGeom prst="rtTriangl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0048" y="1691640"/>
            <a:ext cx="201168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0048" y="1691640"/>
            <a:ext cx="20116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Stored in
React State
(RAM only)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016" y="2212848"/>
            <a:ext cx="256032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>
            <a:off x="4928616" y="2148840"/>
            <a:ext cx="118872" cy="155448"/>
          </a:xfrm>
          <a:prstGeom prst="rtTriangl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4336" y="1691640"/>
            <a:ext cx="201168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4336" y="1691640"/>
            <a:ext cx="20116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Passed as
Function Arg
to 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4304" y="2212848"/>
            <a:ext cx="256032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Triangle 21"/>
          <p:cNvSpPr/>
          <p:nvPr/>
        </p:nvSpPr>
        <p:spPr>
          <a:xfrm>
            <a:off x="7232904" y="2148840"/>
            <a:ext cx="118872" cy="155448"/>
          </a:xfrm>
          <a:prstGeom prst="rt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78624" y="1691640"/>
            <a:ext cx="201168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78624" y="1691640"/>
            <a:ext cx="201168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0064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Sent as Header
to GitLab
HTTPS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08592" y="2212848"/>
            <a:ext cx="256032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Triangle 26"/>
          <p:cNvSpPr/>
          <p:nvPr/>
        </p:nvSpPr>
        <p:spPr>
          <a:xfrm>
            <a:off x="9537192" y="2148840"/>
            <a:ext cx="118872" cy="155448"/>
          </a:xfrm>
          <a:prstGeom prst="rtTriangl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82912" y="1691640"/>
            <a:ext cx="201168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82912" y="1691640"/>
            <a:ext cx="201168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74352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Page Refresh
Clears Token
from Memory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54680"/>
            <a:ext cx="3657600" cy="3429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154680"/>
            <a:ext cx="36576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246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NEVER STORED OR TRANSMITTED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65760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✗  localStorage / sessionStorage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✗  cookies or IndexedDB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✗  console.log or browser devtools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✗  any analytics / telemetry service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✗  any backend server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✗  the git repository or CI/CD logs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154680"/>
            <a:ext cx="3657600" cy="3429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3154680"/>
            <a:ext cx="36576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246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ONLY TRANSMITTED TO GITLAB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65760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✓  PRIVATE-TOKEN header in HTTPS requests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✓  Only to the base URL the user provided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✓  GitLab REST v4 endpoints only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✓  Cleared from memory after each request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✓  No caching at network or app layer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✓  Read-only scopes only (read_api)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3154680"/>
            <a:ext cx="3657600" cy="3429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3154680"/>
            <a:ext cx="365760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3246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DATA RETURNED FROM GITLAB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65760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•  Commit SHAs, titles, messages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•  Author &amp; committer names/emails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•  Additions &amp; deletions counts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•  All held in React state (RAM)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•  Cleared on page refresh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</a:rPr>
              <a:t>•  No server-side persistence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LOC Measurement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How we count, what we include, and the tradeoffs made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57432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417320"/>
            <a:ext cx="2130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RAW COMMIT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417320"/>
            <a:ext cx="2130552" cy="365760"/>
          </a:xfrm>
          <a:prstGeom prst="rect">
            <a:avLst/>
          </a:prstGeom>
          <a:solidFill>
            <a:srgbClr val="1A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057400"/>
            <a:ext cx="3410712" cy="5029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Is merge commit? (parent_ids &gt; 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34640"/>
            <a:ext cx="2286000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EXCLUDED
(prevents double-count)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YES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6060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NO 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971800"/>
            <a:ext cx="3410712" cy="5029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0175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Whitespace discount 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971800"/>
            <a:ext cx="25603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F24"/>
                </a:solidFill>
              </a:rPr>
              <a:t>effectiveLOC =
additions × 0.95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063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YES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971800"/>
            <a:ext cx="25603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D4BF"/>
                </a:solidFill>
              </a:rPr>
              <a:t>effectiveLOC =
additions (raw)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063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</a:rPr>
              <a:t>← 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6712" y="3520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886200"/>
            <a:ext cx="3410712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886200"/>
            <a:ext cx="3410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Aggregate to DeveloperStats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4434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800600"/>
            <a:ext cx="3410712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4800600"/>
            <a:ext cx="3410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LOC-burst pass: flag outliers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6712" y="5349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5715000"/>
            <a:ext cx="3410712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5715000"/>
            <a:ext cx="3410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totalLOC / manualLOC / aiLOC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4114800"/>
            <a:ext cx="3200400" cy="118872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1879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Why additions only?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498848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Additions represent new code written. Deletions represent removed code and would undercount total effort.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4114800"/>
            <a:ext cx="3200400" cy="118872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41879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Why 5% discount?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4498848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Conservative approximation. Exact blank-line filtering needs full diff fetch (100+ API calls for large repos).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Deployment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Static SPA — deploy in minutes, zero ongoing infrastructure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Build &amp; Deploy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56032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25603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411480" cy="34747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04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npm 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791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Install dependencies
(React, Recharts, Tailwind)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691640"/>
            <a:ext cx="256032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691640"/>
            <a:ext cx="256032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1828800"/>
            <a:ext cx="411480" cy="3474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304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</a:rPr>
              <a:t>npm run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6791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Vite compiles to dist/
Minified + tree-shaken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256032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691640"/>
            <a:ext cx="25603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411480" cy="34747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304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Upload dist/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791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Copy to web host
or CDN bucket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691640"/>
            <a:ext cx="256032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691640"/>
            <a:ext cx="256032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98280" y="1828800"/>
            <a:ext cx="411480" cy="3474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304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Open in browser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6791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No config files
No environment vars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456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Supported Deployment Targets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86200"/>
            <a:ext cx="352044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7763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☁️  AWS S3 + CloudFront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36168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Zero-config static hosting,
global CDN, HTTPS included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3886200"/>
            <a:ext cx="352044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97763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▲  Vercel / Netlify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36168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Push to branch = auto-deploy,
previews for every PR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886200"/>
            <a:ext cx="352044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397763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🦑  GitHub / GitLab Pages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436168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Free hosting, CI/CD built-in,
ideal for internal tools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03520"/>
            <a:ext cx="352044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3949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🐳  Docker + nginx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77900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Self-hosted on-prem,
behind VPN or internal DNS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60" y="5303520"/>
            <a:ext cx="352044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53949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📁  Local Filesystem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77900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Open dist/index.html
directly in browser (read-only)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5303520"/>
            <a:ext cx="352044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53949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🖧   Internal Web Server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577900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nginx / Apache serve dist/
with optional auth proxy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521440" y="1234440"/>
            <a:ext cx="45720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</a:rPr>
              <a:t>NOT REQUIRED:  database · backend server · cloud account · domain name · DevOps engineer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Leadership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Practical questions this dashboard answers for engineering and product leaders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34440"/>
            <a:ext cx="370332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234440"/>
            <a:ext cx="37033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344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3716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Quarterly Business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801368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Show AI adoption rate trending over Q1→Q2→Q3. Correlate AI LOC growth with sprint velocity improvements. Demonstrate tool ROI to budget holders.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6791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Filter by 3-month ranges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99008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Compare Manual vs AI LOC quarter-on-quarter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300984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Export to slide by screenshot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370332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234440"/>
            <a:ext cx="370332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344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3716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</a:rPr>
              <a:t>Team Health &amp; Coaching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801368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Identify developers with 0% AI adoption (may need tooling training) and those with 80%+ AI LOC (verify quality standards are met and no over-reliance).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791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Per-developer AI % column in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9008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Commit drill-down for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300984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Focus on LOC burst anomalies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1234440"/>
            <a:ext cx="370332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7888" y="1234440"/>
            <a:ext cx="37033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1344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8" y="13716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Compliance &amp;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1801368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For regulated industries, document which code was AI-assisted for IP, licensing, or compliance reviews. Every AI commit has a traceable reason tag.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6791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aiReason field: pattern / loc-burst / committer-mismatch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299008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Drill to individual commit SHAs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300984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Date-range filter for audit period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3867912"/>
            <a:ext cx="370332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472" y="3867912"/>
            <a:ext cx="3703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3977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40050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Sprint Retrospectives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443484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 30-second sprint reviews: pull last 14-day data, see which engineers used AI, and discuss if AI acceleration matched sprint commitments.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5312664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14-day preset in date picker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562356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Developer table sorted by AI LOC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" y="5934456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Live fetch — always fresh 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3867912"/>
            <a:ext cx="370332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3867912"/>
            <a:ext cx="370332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3977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40050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AI Tool ROI Measurement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43484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Compare AI LOC percentage before and after rolling out a new tool (e.g., Copilot). Validate adoption is actually happening, not just license spend.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312664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Pattern filter catches tool-specific tags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562356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Date range before vs after rollout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5934456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Per-developer granularity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47888" y="3867912"/>
            <a:ext cx="370332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47888" y="3867912"/>
            <a:ext cx="370332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85048" y="3977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42248" y="40050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Engineering KPI Dashboards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5048" y="443484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Embed the AI% metric into your existing OKR tracking. Goal: '&gt;30% of new code AI-assisted by Q4' is now measurable and auditable.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5048" y="5312664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5 KPI cards on dashboard home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5048" y="562356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aiPercentage = aiLOC / totalLOC × 100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5048" y="5934456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› Historical snapshots via screenshots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Limitations &amp; Potential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Being transparent about current tradeoffs and future opportunities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16459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Current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54864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874520"/>
            <a:ext cx="292608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783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5% whitespace approximation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0756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Blank-line accuracy requires fetching full diffs — too expensive at scale. Current 5% discount is a conservative engineering tradeoff.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32888"/>
            <a:ext cx="54864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697480"/>
            <a:ext cx="292608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606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Sequential project fetching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898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Projects processed one at a time to respect GitLab's 10 req/s rate limit for personal tokens. OAuth or service accounts could enable parallel fetching.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55848"/>
            <a:ext cx="54864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520440"/>
            <a:ext cx="292608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No historical snapshots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721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Each fetch is independent. Trending metrics (week-over-week) require manually capturing screenshots or adding a lightweight persistence layer.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78808"/>
            <a:ext cx="54864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4343400"/>
            <a:ext cx="292608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251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Client-side author filtering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5445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GitLab API only supports single-author filter, so all commits are fetched then filtered in-browser. Large groups may load slowly.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01768"/>
            <a:ext cx="54864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5166360"/>
            <a:ext cx="292608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074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No co-author aggregation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3675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Human co-authors from git trailers are not attributed separately. Only bot co-authors are used as an AI signal.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Potential Roadmap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709928"/>
            <a:ext cx="5486400" cy="1572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1709928"/>
            <a:ext cx="548640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1819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Near Term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18541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GitHub / Bitbucket / Azure DevOps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45973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CSV / Excel export of developer stats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73405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Per-project breakdown (not just per-developer)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00837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Configurable LOC burst multiplier in UI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429000"/>
            <a:ext cx="5486400" cy="1572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429000"/>
            <a:ext cx="5486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538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Medium Term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904487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LocalStorage snapshot history (opt-in)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178807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Trend charts: AI% over rolling weeks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453127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Team / squad grouping config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72744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Shareable URL with encoded config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148072"/>
            <a:ext cx="5486400" cy="1572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5148072"/>
            <a:ext cx="5486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</a:rPr>
              <a:t>Longer Term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62356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REST API backend for persistent data warehouse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8978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Slack / Teams weekly digest notifications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617220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AI tool attribution analytics (Copilot vs Claude vs Cursor)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644652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› Diff-level whitespace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3200400"/>
            <a:ext cx="5486400" cy="5486400"/>
          </a:xfrm>
          <a:prstGeom prst="rect">
            <a:avLst/>
          </a:prstGeom>
          <a:solidFill>
            <a:srgbClr val="1A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73152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161288"/>
            <a:ext cx="365760" cy="3474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00584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Real-time AI adoption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37160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No surveys. No manual auditing. Instant data from your GitLab.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73152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38528"/>
            <a:ext cx="731520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2185416"/>
            <a:ext cx="365760" cy="34747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02996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3-signal detection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39572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Commit patterns, tool committer mismatch, and LOC-burst heuristic work together.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62656"/>
            <a:ext cx="73152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62656"/>
            <a:ext cx="73152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3209544"/>
            <a:ext cx="365760" cy="34747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054096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Zero infrastructure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419856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Static SPA. No server. No database. Deploy in &lt; 5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86784"/>
            <a:ext cx="73152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86784"/>
            <a:ext cx="73152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4233672"/>
            <a:ext cx="365760" cy="3474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078224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Security-first token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443984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Token lives only in RAM. Cleared on refresh. Never persisted or logged.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10912"/>
            <a:ext cx="73152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10912"/>
            <a:ext cx="73152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5257800"/>
            <a:ext cx="365760" cy="34747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0235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Leadership-ready out of the box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6811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KPI cards, drill-down tables, and charts designed for executive briefings.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914400"/>
            <a:ext cx="3931920" cy="3931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914400"/>
            <a:ext cx="393192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Next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155448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</a:rPr>
              <a:t>1.  Get a GitLab PAT (read_api scope)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</a:rPr>
              <a:t>2.  Note your Group or Project ID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</a:rPr>
              <a:t>3.  Clone or download the repo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</a:rPr>
              <a:t>4.  Run  npm install &amp;&amp; npm run dev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</a:rPr>
              <a:t>5.  Open  http://localhost:3000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</a:rPr>
              <a:t>6.  Enter URL, token, and IDs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</a:rPr>
              <a:t>7.  Click Fetch Data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</a:rPr>
              <a:t>8.  Share findings with your team!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0" y="6473952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GitAnalytics AI Dashboard  ·  April 2026  ·  Built with React 18 + TypeScript + Recharts  ·  Read-only · Zero backend · No data persisted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